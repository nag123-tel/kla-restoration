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Validation PSNR climbs steadily, no overfitting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PSNR (dB)</c:v>
                </c:pt>
              </c:strCache>
            </c:strRef>
          </c:tx>
          <c:spPr>
            <a:solidFill>
              <a:srgbClr val="1E8A8A"/>
            </a:solidFill>
            <a:ln w="31750" cap="flat">
              <a:solidFill>
                <a:srgbClr val="1E8A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8A8A"/>
              </a:solidFill>
              <a:ln w="9525" cap="flat">
                <a:solidFill>
                  <a:srgbClr val="1E8A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Ep5</c:v>
                  </c:pt>
                  <c:pt idx="1">
                    <c:v>Ep15</c:v>
                  </c:pt>
                  <c:pt idx="2">
                    <c:v>Ep25</c:v>
                  </c:pt>
                  <c:pt idx="3">
                    <c:v>Ep35</c:v>
                  </c:pt>
                  <c:pt idx="4">
                    <c:v>Ep45</c:v>
                  </c:pt>
                  <c:pt idx="5">
                    <c:v>Ep55</c:v>
                  </c:pt>
                  <c:pt idx="6">
                    <c:v>Ep65</c:v>
                  </c:pt>
                  <c:pt idx="7">
                    <c:v>Ep75</c:v>
                  </c:pt>
                  <c:pt idx="8">
                    <c:v>Ep90</c:v>
                  </c:pt>
                  <c:pt idx="9">
                    <c:v>Ep100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28.06</c:v>
                </c:pt>
                <c:pt idx="1">
                  <c:v>28.4</c:v>
                </c:pt>
                <c:pt idx="2">
                  <c:v>28.46</c:v>
                </c:pt>
                <c:pt idx="3">
                  <c:v>28.71</c:v>
                </c:pt>
                <c:pt idx="4">
                  <c:v>28.87</c:v>
                </c:pt>
                <c:pt idx="5">
                  <c:v>28.93</c:v>
                </c:pt>
                <c:pt idx="6">
                  <c:v>28.88</c:v>
                </c:pt>
                <c:pt idx="7">
                  <c:v>28.84</c:v>
                </c:pt>
                <c:pt idx="8">
                  <c:v>29.05</c:v>
                </c:pt>
                <c:pt idx="9">
                  <c:v>29.13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dB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33A"/>
                </a:solidFill>
                <a:latin typeface="Arial"/>
              </a:rPr>
              <a:t>PSNR (dB)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 (dB)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A8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
(bicubic)</c:v>
                  </c:pt>
                  <c:pt idx="1">
                    <c:v>Our Model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23.083</c:v>
                </c:pt>
                <c:pt idx="1">
                  <c:v>27.81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62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33A"/>
                </a:solidFill>
                <a:latin typeface="Arial"/>
              </a:rPr>
              <a:t>SSIM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SSIM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A8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
(bicubic)</c:v>
                  </c:pt>
                  <c:pt idx="1">
                    <c:v>Our Model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0.5545</c:v>
                </c:pt>
                <c:pt idx="1">
                  <c:v>0.7678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2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6233A"/>
                </a:solidFill>
                <a:latin typeface="Arial"/>
              </a:rPr>
              <a:t>LPIPS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LPIPS</c:v>
                </c:pt>
              </c:strCache>
            </c:strRef>
          </c:tx>
          <c:spPr>
            <a:solidFill>
              <a:srgbClr val="5B6B7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6B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A8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Baseline
(bicubic)</c:v>
                  </c:pt>
                  <c:pt idx="1">
                    <c:v>Our Model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0.4351</c:v>
                </c:pt>
                <c:pt idx="1">
                  <c:v>0.2706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23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 PROBLEM STATEMENT · HACKATHON 2026 · SEMICON INDIA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Restoration of Degraded Images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Semiconductor Inspection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611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NAFNet-based joint denoising + super-resolution model that restores NoisyLR images to GT quality — 27.8 dB PSNR, +4.7 dB over a bicubic baseline, at ~15 ms/image on GPU.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Anaavarana · A Trail to Unveil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 &amp; Restoration Task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single transformation that recovers a clean, ground-truth-resolution image from a degraded NoisyLR observation — without hallucinating detail that isn't recoverable from the input.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400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confirmed degradations only: speckle noise, additive Gaussian noise, downsampling — order undisclosed, may be any order</a:t>
            </a:r>
            <a:endParaRPr lang="en-US" sz="1400" dirty="0"/>
          </a:p>
          <a:p>
            <a:pPr marL="228600" indent="-2286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values normalized to [0,1]; NoisyLR intentionally may extend slightly outside [0,1]</a:t>
            </a:r>
            <a:endParaRPr lang="en-US" sz="1400" dirty="0"/>
          </a:p>
          <a:p>
            <a:pPr marL="228600" indent="-2286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test set includes in-distribution AND out-of-distribution image content</a:t>
            </a:r>
            <a:endParaRPr lang="en-US" sz="1400" dirty="0"/>
          </a:p>
          <a:p>
            <a:pPr marL="228600" indent="-228600">
              <a:lnSpc>
                <a:spcPts val="26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Scoring: fixed internal combination of PSNR, SSIM, LPIPS on hidden GT, plus end-to-end throughput on a common NVIDIA H100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24688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0" y="24688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NoisyLR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(degraded)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49640" y="24688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869680" y="24688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E8A8A"/>
          </a:solidFill>
          <a:ln w="12700">
            <a:solidFill>
              <a:srgbClr val="1E8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0" y="24688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104120" y="2468880"/>
            <a:ext cx="320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24160" y="24688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0" y="246888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 GT)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36576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maximize fidelity + structural similarity + perceptual quality — without destroying real structure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Analysis &amp; Degradation Observations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NoisyLR/GT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371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128→256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337560" y="1965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NoisyLR → GT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(2× scale)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371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validation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(10%, leak-free)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23444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371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915400" y="1965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 / mismatched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found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Whole-dataset validation (validate_data.py) before training: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2461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400"/>
              </a:lnSpc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3,200 files matched 1:1 by filename stem between NoisyLR/ and GT/</a:t>
            </a:r>
            <a:endParaRPr lang="en-US" sz="1300" dirty="0"/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consistent scale factor confirmed across the entire dataset: 2.0×</a:t>
            </a:r>
            <a:endParaRPr lang="en-US" sz="1300" dirty="0"/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value range: [0.000, 1.000] — matches spec exactly</a:t>
            </a:r>
            <a:endParaRPr lang="en-US" sz="1300" dirty="0"/>
          </a:p>
          <a:p>
            <a:pPr marL="228600" indent="-228600">
              <a:lnSpc>
                <a:spcPts val="2400"/>
              </a:lnSpc>
              <a:spcAft>
                <a:spcPts val="6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NoisyLR value range: [−0.279, 2.158] — confirms values intentionally exceed [0,1]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the noise is not purely pixel-independent — speckle/Gaussian compounding plus downsampling produces spatially correlated degradation, particularly visible on periodic textures (see Slide 11, aliasing failure case).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97480" cy="2834640"/>
          </a:xfrm>
          <a:prstGeom prst="roundRect">
            <a:avLst>
              <a:gd name="adj" fmla="val 203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validate_data.py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5146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Whole-dataset integrity check: matched filenames, consistent scale, value ranges, corrupt files — run once before any training.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697480" cy="283464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2044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5146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Leak-free train/val split, NAFNetSR training, per-epoch CSV log + config JSON + val-split manifest auto-saved.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97480" cy="2834640"/>
          </a:xfrm>
          <a:prstGeom prst="roundRect">
            <a:avLst>
              <a:gd name="adj" fmla="val 203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5508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evaluate.py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5146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Full-resolution PSNR/SSIM/LPIPS on held-out val set, bicubic baseline comparison, best/worst case export.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371600"/>
            <a:ext cx="2697480" cy="283464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89720" y="20574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inference.py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89720" y="2514600"/>
            <a:ext cx="2423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Standalone: --input_dir / --output_dir / --checkpoint only. Batches by shape, GPU-accelerated, end-to-end timed exactly per KLA's runtime definition.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reproducible from the README with no manual source-code edits — verified with a clean end-to-end dry run.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Augmentation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is used at its NATIVE 256×256 resolution — never downsampled to match NoisyLR. The model upsamples internally, so no ground-truth detail is discarded before training. Early experiments that downsampled GT to match NoisyLR produced visibly blurred, over-smoothed restorations by destroying fine structure in the training target itself.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paired crop: 64×64 from NoisyLR ↔ 128×128 from GT (same physical location, native pixels)</a:t>
            </a:r>
            <a:endParaRPr lang="en-US" sz="1300" dirty="0"/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+ vertical flips</a:t>
            </a:r>
            <a:endParaRPr lang="en-US" sz="1300" dirty="0"/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synthetic degradation generator (speckle + Gaussian + downsampling, random order) to create extra pairs from GT-only images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234440"/>
            <a:ext cx="4846320" cy="4480560"/>
          </a:xfrm>
          <a:prstGeom prst="roundRect">
            <a:avLst>
              <a:gd name="adj" fmla="val 122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degradation spec (src/degradations.py)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196596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Speckle noise: img + img × N(0, level²), level ∈ [0.05, 0.25]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Gaussian noise: N(0, σ²), σ ∈ [0.01, 0.08]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Downsampling: area-averaging by the target scale factor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applied in a RANDOMLY SHUFFLED order per sample — matches KLA's confirmed “order not disclosed” spec exactly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intentionally left unclipped (may exceed [0,1])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&amp; Design Rationale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NAFNetSR: NAFNet encoder-decoder + PixelShuffle super-resolution head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NoisyLR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73736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0" y="17373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E8A8A"/>
          </a:solidFill>
          <a:ln w="12700">
            <a:solidFill>
              <a:srgbClr val="1E8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NAFNet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Encoder–Decoder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173736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37760" y="17373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1E8A8A"/>
          </a:solidFill>
          <a:ln w="12700">
            <a:solidFill>
              <a:srgbClr val="1E8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PixelShuffle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Head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173736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32320" y="17373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Bicubic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052560" y="173736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326880" y="1737360"/>
            <a:ext cx="1920240" cy="82296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0" y="17373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(GT res.)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NAFNet over Restormer / SwinIR: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or beats heavier transformer baselines on real-world denoising benchmarks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 cheaper to run — directly relevant to KLA's H100 throughput scoring axis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SimpleGate + Simplified Channel Attention replace nonlinear activations entirely: strong quality/compute trade-off, no custom CUDA ops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bicubic-residual connection lets the network focus on the denoise+detail correction, not full reconstruction from scratch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309360" y="2880360"/>
            <a:ext cx="5120640" cy="3291840"/>
          </a:xfrm>
          <a:prstGeom prst="roundRect">
            <a:avLst>
              <a:gd name="adj" fmla="val 166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108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variants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566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 (this run)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1,002,457 params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0" y="3977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9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0" y="3977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~3,100,000 params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83680" y="44805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parameter-count limit per KLA spec — tiny chosen as the primary submission for its strong quality/throughput trade-off. small was also trained (see Slide 8) but not formally benchmarked against the held-out validation set; that comparison is listed under Next Steps.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&amp; Training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loss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1.0 × Charbonnier(pred, GT)  +  0.2 × (1 − SSIM(pred, GT))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Charbonnier: smooth-L1 reconstruction loss, standard in SR/denoising literature (Restormer, SwinIR, MPRNet) — robust to outliers, sharper than plain L1</a:t>
            </a:r>
            <a:endParaRPr lang="en-US" sz="1250" dirty="0"/>
          </a:p>
          <a:p>
            <a:pPr marL="228600" indent="-2286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term: directly optimizes toward one of the three reported metrics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5394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4747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weight decay 1e-4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schedule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2e-4 → 0, cosine annealing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clipping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max-norm 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(fixed, logged)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09360" y="1234440"/>
            <a:ext cx="5120640" cy="4754880"/>
          </a:xfrm>
          <a:prstGeom prst="roundRect">
            <a:avLst>
              <a:gd name="adj" fmla="val 1154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1463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(automatic, every run)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583680" y="2103120"/>
            <a:ext cx="45720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results/train_config_&lt;run_id&gt;.json — full hyperparameters, seed, PyTorch/CUDA/GPU info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results/train_log_&lt;run_id&gt;.csv — per-epoch loss, LR, val PSNR/SSIM, wall time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results/val_split_&lt;run_id&gt;.json — exact held-out filenames (reproducible, leak-free)</a:t>
            </a:r>
            <a:endParaRPr lang="en-US" sz="1250" dirty="0"/>
          </a:p>
          <a:p>
            <a:pPr marL="228600" indent="-2286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weights/best.pt — checkpoint with embedded config for exact reproducibility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 &amp; Baseline Comparison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progression (100 epochs, full 3,200-image dataset)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00200"/>
          <a:ext cx="55778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492240" y="1188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comparison methodology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92240" y="160020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= bicubic upsampling only, zero denoising — exactly what the model's own global residual connection starts from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 the SAME 320 held-out, leak-free validation images as the trained model</a:t>
            </a:r>
            <a:endParaRPr lang="en-US" sz="1250" dirty="0"/>
          </a:p>
          <a:p>
            <a:pPr marL="228600" indent="-2286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evaluated at FULL RESOLUTION (256×256+), not training crops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4297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decreased from 0.109 → 0.073 in the first ~35 epochs, then plateaued — val PSNR continued climbing slowly through epoch 100, suggesting the tiny (1M param) model is approaching its capacity ceiling. See Slide 12 for the small-model follow-up.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PSNR, SSIM &amp; LPIPS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Full-resolution evaluation on 320 held-out validation images (evaluate.py)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91640"/>
          <a:ext cx="3520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914400" y="4572000"/>
            <a:ext cx="2788920" cy="502920"/>
          </a:xfrm>
          <a:prstGeom prst="roundRect">
            <a:avLst>
              <a:gd name="adj" fmla="val 9090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572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+4.73 dB vs baseline</a:t>
            </a:r>
            <a:endParaRPr lang="en-US" sz="12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160520" y="1691640"/>
          <a:ext cx="3520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526280" y="4572000"/>
            <a:ext cx="2788920" cy="502920"/>
          </a:xfrm>
          <a:prstGeom prst="roundRect">
            <a:avLst>
              <a:gd name="adj" fmla="val 9090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26280" y="4572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+0.213 vs baseline</a:t>
            </a:r>
            <a:endParaRPr lang="en-US" sz="1250" dirty="0"/>
          </a:p>
        </p:txBody>
      </p:sp>
      <p:graphicFrame>
        <p:nvGraphicFramePr>
          <p:cNvPr id="11" name="Chart 2" descr=""/>
          <p:cNvGraphicFramePr/>
          <p:nvPr/>
        </p:nvGraphicFramePr>
        <p:xfrm>
          <a:off x="7772400" y="1691640"/>
          <a:ext cx="35204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Shape 7"/>
          <p:cNvSpPr/>
          <p:nvPr/>
        </p:nvSpPr>
        <p:spPr>
          <a:xfrm>
            <a:off x="8138160" y="4572000"/>
            <a:ext cx="2788920" cy="502920"/>
          </a:xfrm>
          <a:prstGeom prst="roundRect">
            <a:avLst>
              <a:gd name="adj" fmla="val 9090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138160" y="457200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−0.164 vs baseline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beats the bicubic-only baseline on every metric by a clear margin — confirming genuine denoising + detail-recovery work, not just the residual bicubic pass baked into the architecture.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Runtime, Batch Size &amp; Optimization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 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end-to-end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image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14173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~13.9 ms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37560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/ image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4173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images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15400" y="128016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14173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4.90 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915400" y="20116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pipeline time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(320 images, batch=8)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926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configuration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5486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Tesla T4 (dev/test machine)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2.11.0+cu128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wall-clock time.time(), disk read → preprocessing → H2D → model → D2H → save, matching KLA's exact runtime definition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6492240" y="2926080"/>
            <a:ext cx="5120640" cy="3108960"/>
          </a:xfrm>
          <a:prstGeom prst="roundRect">
            <a:avLst>
              <a:gd name="adj" fmla="val 1765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6656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H100 scoring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766560" y="356616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Development/testing was done on a Colab Tesla T4. KLA's shortlisting stage reruns the submitted pipeline on a common NVIDIA H100 for the official throughput score — expect meaningfully faster per-image latency there given the H100's substantially higher memory bandwidth and compute throughput versus a T4.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inference.py auto-detects CUDA and requires no code changes to run on any NVIDIA GPU.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Results, Failure Cases &amp; Limitations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restorations — final tiny checkpoint, real test-set images</a:t>
            </a:r>
            <a:endParaRPr lang="en-US" sz="1300" dirty="0"/>
          </a:p>
        </p:txBody>
      </p:sp>
      <p:pic>
        <p:nvPicPr>
          <p:cNvPr id="5" name="Image 0" descr="final_exampl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3520440" cy="1865233"/>
          </a:xfrm>
          <a:prstGeom prst="rect">
            <a:avLst/>
          </a:prstGeom>
        </p:spPr>
      </p:pic>
      <p:pic>
        <p:nvPicPr>
          <p:cNvPr id="6" name="Image 1" descr="final_example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81328"/>
            <a:ext cx="3520440" cy="1865233"/>
          </a:xfrm>
          <a:prstGeom prst="rect">
            <a:avLst/>
          </a:prstGeom>
        </p:spPr>
      </p:pic>
      <p:pic>
        <p:nvPicPr>
          <p:cNvPr id="7" name="Image 2" descr="final_example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481328"/>
            <a:ext cx="3520440" cy="186523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3419713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Restored with the final 100-epoch tiny checkpoint (weights/best.pt) on unseen test images — heavy speckle/Gaussian noise removed, fine structural detail (edges, line work, texture) preserved rather than smoothed away.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548640" y="4572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distinct, well-understood failure modes identified: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548640" y="48920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85800" y="50109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Fine detail loss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85800" y="5303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Ornamental micro-texture destroyed by 2× downsampling before the model sees it. Model correctly smooths rather than hallucinates.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297680" y="48920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434840" y="50109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Aliasing (Moiré)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434840" y="5303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patterns (e.g. corrugated roofing) fold into a false pattern during downsampling. Model confidently reconstructs the aliased structure.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46720" y="48920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8183880" y="501091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Stochastic-texture ceiling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183880" y="530352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 is itself high-entropy random texture — an information-theoretic limit no model can cross; even a perfect oracle can't win here.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 Detail: Aliasing (Moiré Pattern)</a:t>
            </a:r>
            <a:endParaRPr lang="en-US" sz="2800" dirty="0"/>
          </a:p>
        </p:txBody>
      </p:sp>
      <p:pic>
        <p:nvPicPr>
          <p:cNvPr id="4" name="Image 0" descr="failure_0019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10642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976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corrugated-roof stripe pattern is periodic at a frequency close to the Nyquist limit after 2× downsampling. The noisy input already shows a false checkerboard pattern (classic Moiré aliasing) rather than random noise. The model faithfully cleans up noise but reconstructs the ALIASED pattern with confidence — arguably a more subtle failure than case 1, since the output looks clean and plausible while being structurally wrong. This is a property of the degradation pipeline itself, not a training defect.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11b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External Resources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NAFNetSR (1M params) restores NoisyLR → GT quality in a single forward pass</a:t>
            </a:r>
            <a:endParaRPr lang="en-US" sz="1300" dirty="0"/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27.81 dB PSNR / 0.768 SSIM / 0.271 LPIPS on held-out full-resolution validation</a:t>
            </a:r>
            <a:endParaRPr lang="en-US" sz="1300" dirty="0"/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+4.7 dB PSNR over bicubic baseline — clear, non-trivial improvement</a:t>
            </a:r>
            <a:endParaRPr lang="en-US" sz="1300" dirty="0"/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 ms/image steady-state inference on a T4 GPU (expect faster on H100)</a:t>
            </a:r>
            <a:endParaRPr lang="en-US" sz="1300" dirty="0"/>
          </a:p>
          <a:p>
            <a:pPr marL="228600" indent="-228600">
              <a:lnSpc>
                <a:spcPts val="22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reproducible: validate → train → evaluate → infer, config/seed/log tracked automatically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resources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70916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pretrained weights or public datasets used. Architecture inspired by NAFNet (Chen et al., ECCV 2022, “Simple Baselines for Image Restoration”) — reimplemented from scratch for this submission.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234440"/>
            <a:ext cx="5120640" cy="4343400"/>
          </a:xfrm>
          <a:prstGeom prst="roundRect">
            <a:avLst>
              <a:gd name="adj" fmla="val 1263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0" y="187452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100"/>
              </a:lnSpc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 variant (3.1M params) — benchmark quality/throughput trade-off vs tiny</a:t>
            </a:r>
            <a:endParaRPr lang="en-US" sz="1250" dirty="0"/>
          </a:p>
          <a:p>
            <a:pPr marL="228600" indent="-228600">
              <a:lnSpc>
                <a:spcPts val="2100"/>
              </a:lnSpc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training beyond 100 epochs given validation PSNR was still climbing</a:t>
            </a:r>
            <a:endParaRPr lang="en-US" sz="1250" dirty="0"/>
          </a:p>
          <a:p>
            <a:pPr marL="228600" indent="-228600">
              <a:lnSpc>
                <a:spcPts val="2100"/>
              </a:lnSpc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synthetic degradation augmentation for additional out-of-distribution robustness</a:t>
            </a:r>
            <a:endParaRPr lang="en-US" sz="1250" dirty="0"/>
          </a:p>
          <a:p>
            <a:pPr marL="228600" indent="-228600">
              <a:lnSpc>
                <a:spcPts val="2100"/>
              </a:lnSpc>
              <a:spcAft>
                <a:spcPts val="800"/>
              </a:spcAft>
              <a:buSzPct val="100000"/>
              <a:buChar char="→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targeted handling for periodic/high-frequency textures (Slide 11, case 2)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4206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4526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https://github.com/Nag123-tel/kla-restoration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2026-08-15T16:54:41Z</dcterms:created>
  <dcterms:modified xsi:type="dcterms:W3CDTF">2026-08-15T16:54:41Z</dcterms:modified>
</cp:coreProperties>
</file>