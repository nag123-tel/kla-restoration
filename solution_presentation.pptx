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9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47D04C-E3DA-4CFC-BC0A-AA68192F38F6}" v="2" dt="2026-08-18T15:03:27.8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200" b="0" i="0" u="none" strike="noStrike">
                <a:solidFill>
                  <a:srgbClr val="000000"/>
                </a:solidFill>
                <a:latin typeface="Arial"/>
              </a:rPr>
              <a:t>Validation PSNR climbs steadily, no overfitting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 PSNR (dB)</c:v>
                </c:pt>
              </c:strCache>
            </c:strRef>
          </c:tx>
          <c:spPr>
            <a:ln w="31750" cap="flat">
              <a:solidFill>
                <a:srgbClr val="1E8A8A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1E8A8A"/>
              </a:solidFill>
              <a:ln w="9525" cap="flat">
                <a:solidFill>
                  <a:srgbClr val="1E8A8A"/>
                </a:solidFill>
                <a:prstDash val="solid"/>
                <a:round/>
              </a:ln>
              <a:effectLst/>
            </c:spPr>
          </c:marker>
          <c:cat>
            <c:strRef>
              <c:f>Sheet1!$A$2:$A$11</c:f>
              <c:strCache>
                <c:ptCount val="10"/>
                <c:pt idx="0">
                  <c:v>Ep5</c:v>
                </c:pt>
                <c:pt idx="1">
                  <c:v>Ep15</c:v>
                </c:pt>
                <c:pt idx="2">
                  <c:v>Ep25</c:v>
                </c:pt>
                <c:pt idx="3">
                  <c:v>Ep35</c:v>
                </c:pt>
                <c:pt idx="4">
                  <c:v>Ep45</c:v>
                </c:pt>
                <c:pt idx="5">
                  <c:v>Ep55</c:v>
                </c:pt>
                <c:pt idx="6">
                  <c:v>Ep65</c:v>
                </c:pt>
                <c:pt idx="7">
                  <c:v>Ep75</c:v>
                </c:pt>
                <c:pt idx="8">
                  <c:v>Ep90</c:v>
                </c:pt>
                <c:pt idx="9">
                  <c:v>Ep100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28.06</c:v>
                </c:pt>
                <c:pt idx="1">
                  <c:v>28.4</c:v>
                </c:pt>
                <c:pt idx="2">
                  <c:v>28.46</c:v>
                </c:pt>
                <c:pt idx="3">
                  <c:v>28.71</c:v>
                </c:pt>
                <c:pt idx="4">
                  <c:v>28.87</c:v>
                </c:pt>
                <c:pt idx="5">
                  <c:v>28.93</c:v>
                </c:pt>
                <c:pt idx="6">
                  <c:v>28.88</c:v>
                </c:pt>
                <c:pt idx="7">
                  <c:v>28.84</c:v>
                </c:pt>
                <c:pt idx="8">
                  <c:v>29.05</c:v>
                </c:pt>
                <c:pt idx="9">
                  <c:v>29.13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3233-4A66-9B42-EFA4B58FA36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4E7E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IN" b="0" i="0" u="none" strike="noStrike">
                    <a:solidFill>
                      <a:srgbClr val="000000"/>
                    </a:solidFill>
                    <a:latin typeface="Arial"/>
                  </a:rPr>
                  <a:t>dB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33A"/>
                </a:solidFill>
                <a:latin typeface="Arial"/>
              </a:defRPr>
            </a:pPr>
            <a:r>
              <a:rPr lang="en-IN" sz="1300" b="0" i="0" u="none" strike="noStrike">
                <a:solidFill>
                  <a:srgbClr val="16233A"/>
                </a:solidFill>
                <a:latin typeface="Arial"/>
              </a:rPr>
              <a:t>PSNR (dB)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PSNR (dB)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450-41EB-8591-4BF24C8F69A5}"/>
              </c:ext>
            </c:extLst>
          </c:dPt>
          <c:dPt>
            <c:idx val="1"/>
            <c:invertIfNegative val="0"/>
            <c:bubble3D val="0"/>
            <c:spPr>
              <a:solidFill>
                <a:srgbClr val="1E8A8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450-41EB-8591-4BF24C8F69A5}"/>
              </c:ext>
            </c:extLst>
          </c:dPt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6233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Baseline
(bicubic)</c:v>
                </c:pt>
                <c:pt idx="1">
                  <c:v>Our Model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23.082999999999998</c:v>
                </c:pt>
                <c:pt idx="1">
                  <c:v>27.81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450-41EB-8591-4BF24C8F69A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3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33A"/>
                </a:solidFill>
                <a:latin typeface="Arial"/>
              </a:defRPr>
            </a:pPr>
            <a:r>
              <a:rPr lang="en-IN" sz="1300" b="0" i="0" u="none" strike="noStrike">
                <a:solidFill>
                  <a:srgbClr val="16233A"/>
                </a:solidFill>
                <a:latin typeface="Arial"/>
              </a:rPr>
              <a:t>SSIM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SSIM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E07A-4AE8-B89C-19A44D349724}"/>
              </c:ext>
            </c:extLst>
          </c:dPt>
          <c:dPt>
            <c:idx val="1"/>
            <c:invertIfNegative val="0"/>
            <c:bubble3D val="0"/>
            <c:spPr>
              <a:solidFill>
                <a:srgbClr val="1E8A8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07A-4AE8-B89C-19A44D349724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6233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Baseline
(bicubic)</c:v>
                </c:pt>
                <c:pt idx="1">
                  <c:v>Our Model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0.55449999999999999</c:v>
                </c:pt>
                <c:pt idx="1">
                  <c:v>0.76780000000000004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07A-4AE8-B89C-19A44D34972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3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233A"/>
                </a:solidFill>
                <a:latin typeface="Arial"/>
              </a:defRPr>
            </a:pPr>
            <a:r>
              <a:rPr lang="en-IN" sz="1300" b="0" i="0" u="none" strike="noStrike">
                <a:solidFill>
                  <a:srgbClr val="16233A"/>
                </a:solidFill>
                <a:latin typeface="Arial"/>
              </a:rPr>
              <a:t>LPIPS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LPIPS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AD1-43AE-9B0D-663B410D4467}"/>
              </c:ext>
            </c:extLst>
          </c:dPt>
          <c:dPt>
            <c:idx val="1"/>
            <c:invertIfNegative val="0"/>
            <c:bubble3D val="0"/>
            <c:spPr>
              <a:solidFill>
                <a:srgbClr val="1E8A8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AD1-43AE-9B0D-663B410D4467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6233A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Baseline
(bicubic)</c:v>
                </c:pt>
                <c:pt idx="1">
                  <c:v>Our Model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0.43509999999999999</c:v>
                </c:pt>
                <c:pt idx="1">
                  <c:v>0.27060000000000001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AD1-43AE-9B0D-663B410D446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33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17924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 PROBLEM STATEMENT · HACKATHON 2026 · SEMICON INDIA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AI-Based Restoration of Degraded Images</a:t>
            </a:r>
            <a:endParaRPr lang="en-US" sz="3800" dirty="0"/>
          </a:p>
          <a:p>
            <a:pPr marL="0" indent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Semiconductor Inspection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31520" y="36118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60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NAFNet-based joint denoising + super-resolution model that restores NoisyLR images to GT quality — 27.8 dB PSNR, +4.7 dB over a bicubic baseline, at ~4.5 ms/image on GPU.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Anaavarana · A Trail to Unveil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Understanding &amp; Restoration Task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a single transformation that recovers a clean, ground-truth-resolution image from a degraded NoisyLR observation — without hallucinating detail that isn't recoverable from the input.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64008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confirmed degradations only: speckle noise, additive Gaussian noise, downsampling — order undisclosed, may be any order</a:t>
            </a:r>
            <a:endParaRPr lang="en-US" sz="1400" dirty="0"/>
          </a:p>
          <a:p>
            <a:pPr marL="228600" indent="-2286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 values normalized to [0,1]; NoisyLR intentionally may extend slightly outside [0,1]</a:t>
            </a:r>
            <a:endParaRPr lang="en-US" sz="1400" dirty="0"/>
          </a:p>
          <a:p>
            <a:pPr marL="228600" indent="-2286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test set includes in-distribution AND out-of-distribution image content</a:t>
            </a:r>
            <a:endParaRPr lang="en-US" sz="1400" dirty="0"/>
          </a:p>
          <a:p>
            <a:pPr marL="228600" indent="-228600">
              <a:lnSpc>
                <a:spcPts val="26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Scoring: fixed internal combination of PSNR, SSIM, LPIPS on hidden GT, plus end-to-end throughput on a common NVIDIA H100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315200" y="246888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0" y="246888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NoisyLR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(degraded)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49640" y="246888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869680" y="246888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1E8A8A"/>
          </a:solidFill>
          <a:ln w="12700">
            <a:solidFill>
              <a:srgbClr val="1E8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0" y="246888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104120" y="2468880"/>
            <a:ext cx="320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0424160" y="2468880"/>
            <a:ext cx="1234440" cy="914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424160" y="246888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Restored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(≈ GT)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0" y="365760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maximize fidelity + structural similarity + perceptual quality — without destroying real structure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Analysis &amp; Degradation Observations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371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3,200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1965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Paired NoisyLR/GT</a:t>
            </a:r>
            <a:endParaRPr lang="en-US" sz="11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images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23444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37560" y="1371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128→256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337560" y="1965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NoisyLR → GT</a:t>
            </a:r>
            <a:endParaRPr lang="en-US" sz="11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(2× scale)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23444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371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126480" y="1965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validation</a:t>
            </a:r>
            <a:endParaRPr lang="en-US" sz="11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(10%, leak-free)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15400" y="123444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15400" y="137160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915400" y="19659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Corrupt / mismatched</a:t>
            </a:r>
            <a:endParaRPr lang="en-US" sz="11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found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2880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Whole-dataset validation (validate_data.py) before training: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24612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400"/>
              </a:lnSpc>
              <a:spcAft>
                <a:spcPts val="6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3,200 files matched 1:1 by filename stem between NoisyLR/ and GT/</a:t>
            </a:r>
            <a:endParaRPr lang="en-US" sz="1300" dirty="0"/>
          </a:p>
          <a:p>
            <a:pPr marL="228600" indent="-228600">
              <a:lnSpc>
                <a:spcPts val="2400"/>
              </a:lnSpc>
              <a:spcAft>
                <a:spcPts val="6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consistent scale factor confirmed across the entire dataset: 2.0×</a:t>
            </a:r>
            <a:endParaRPr lang="en-US" sz="1300" dirty="0"/>
          </a:p>
          <a:p>
            <a:pPr marL="228600" indent="-228600">
              <a:lnSpc>
                <a:spcPts val="2400"/>
              </a:lnSpc>
              <a:spcAft>
                <a:spcPts val="6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 value range: [0.000, 1.000] — matches spec exactly</a:t>
            </a:r>
            <a:endParaRPr lang="en-US" sz="1300" dirty="0"/>
          </a:p>
          <a:p>
            <a:pPr marL="228600" indent="-228600">
              <a:lnSpc>
                <a:spcPts val="2400"/>
              </a:lnSpc>
              <a:spcAft>
                <a:spcPts val="6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NoisyLR value range: [−0.279, 2.158] — confirms values intentionally exceed [0,1]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52578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Observation: the noise is not purely pixel-independent — speckle/Gaussian compounding plus downsampling produces spatially correlated degradation, particularly visible on periodic textures (see Slide 11, aliasing failure case).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Pipeline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97480" cy="2834640"/>
          </a:xfrm>
          <a:prstGeom prst="roundRect">
            <a:avLst>
              <a:gd name="adj" fmla="val 203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85800" y="20574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validate_data.py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251460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Whole-dataset integrity check: matched filenames, consistent scale, value ranges, corrupt files — run once before any training.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83280" y="1371600"/>
            <a:ext cx="2697480" cy="2834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2044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520440" y="20574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train.py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20440" y="251460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Leak-free train/val split, NAFNetSR training, per-epoch CSV log + config JSON + val-split manifest auto-saved.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7920" y="1371600"/>
            <a:ext cx="2697480" cy="2834640"/>
          </a:xfrm>
          <a:prstGeom prst="roundRect">
            <a:avLst>
              <a:gd name="adj" fmla="val 203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55080" y="20574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evaluate.py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55080" y="251460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Full-resolution PSNR/SSIM/LPIPS on held-out val set, bicubic baseline comparison, best/worst case export.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52560" y="1371600"/>
            <a:ext cx="2697480" cy="2834640"/>
          </a:xfrm>
          <a:prstGeom prst="roundRect">
            <a:avLst>
              <a:gd name="adj" fmla="val 2034"/>
            </a:avLst>
          </a:prstGeom>
          <a:solidFill>
            <a:srgbClr val="FFFFFF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89720" y="1508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89720" y="20574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inference.py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189720" y="251460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1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Standalone: --input_dir / --output_dir / --checkpoint only. Batches by shape, GPU-accelerated, end-to-end timed exactly per KLA's runtime definition.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48640" y="44805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is reproducible from the README with no manual source-code edits — verified with a clean end-to-end dry run.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&amp; Augmentation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decision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5669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 is used at its NATIVE 256×256 resolution — never downsampled to match NoisyLR. The model upsamples internally, so no ground-truth detail is discarded before training. Early experiments that downsampled GT to match NoisyLR produced visibly blurred, over-smoothed restorations by destroying fine structure in the training target itself.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3429000"/>
            <a:ext cx="5669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paired crop: 64×64 from NoisyLR ↔ 128×128 from GT (same physical location, native pixels)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horizontal + vertical flips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synthetic degradation generator (speckle + Gaussian + downsampling, random order) to create extra pairs from GT-only images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583680" y="1234440"/>
            <a:ext cx="4846320" cy="4480560"/>
          </a:xfrm>
          <a:prstGeom prst="roundRect">
            <a:avLst>
              <a:gd name="adj" fmla="val 122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4630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degradation spec (src/degradations.py)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0" y="1965960"/>
            <a:ext cx="42976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Speckle noise: img + img × N(0, level²), level ∈ [0.05, 0.25]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Gaussian noise: N(0, σ²), σ ∈ [0.01, 0.08]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Downsampling: area-averaging by the target scale factor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applied in a RANDOMLY SHUFFLED order per sample — matches KLA's confirmed “order not disclosed” spec exactly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intentionally left unclipped (may exceed [0,1])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Architecture &amp; Design Rationale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NAFNetSR: NAFNet encoder-decoder + PixelShuffle super-resolution head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920240" cy="822960"/>
          </a:xfrm>
          <a:prstGeom prst="roundRect">
            <a:avLst>
              <a:gd name="adj" fmla="val 666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NoisyLR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468880" y="1737360"/>
            <a:ext cx="274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743200" y="1737360"/>
            <a:ext cx="1920240" cy="822960"/>
          </a:xfrm>
          <a:prstGeom prst="roundRect">
            <a:avLst>
              <a:gd name="adj" fmla="val 6667"/>
            </a:avLst>
          </a:prstGeom>
          <a:solidFill>
            <a:srgbClr val="1E8A8A"/>
          </a:solidFill>
          <a:ln w="12700">
            <a:solidFill>
              <a:srgbClr val="1E8A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2743200" y="17373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NAFNet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Encoder–Decoder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663440" y="1737360"/>
            <a:ext cx="274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937760" y="1737360"/>
            <a:ext cx="1920240" cy="822960"/>
          </a:xfrm>
          <a:prstGeom prst="roundRect">
            <a:avLst>
              <a:gd name="adj" fmla="val 6667"/>
            </a:avLst>
          </a:prstGeom>
          <a:solidFill>
            <a:srgbClr val="1E8A8A"/>
          </a:solidFill>
          <a:ln w="12700">
            <a:solidFill>
              <a:srgbClr val="1E8A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4937760" y="17373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PixelShuffle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 Head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0" y="1737360"/>
            <a:ext cx="274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132320" y="1737360"/>
            <a:ext cx="1920240" cy="822960"/>
          </a:xfrm>
          <a:prstGeom prst="roundRect">
            <a:avLst>
              <a:gd name="adj" fmla="val 666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7132320" y="17373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Bicubic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052560" y="1737360"/>
            <a:ext cx="274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9326880" y="1737360"/>
            <a:ext cx="1920240" cy="822960"/>
          </a:xfrm>
          <a:prstGeom prst="roundRect">
            <a:avLst>
              <a:gd name="adj" fmla="val 666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9326880" y="173736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(GT res.)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28803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NAFNet over Restormer / SwinIR: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3246120"/>
            <a:ext cx="5394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or beats heavier transformer baselines on real-world denoising benchmarks</a:t>
            </a:r>
            <a:endParaRPr lang="en-US" sz="1250" dirty="0"/>
          </a:p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Substantially cheaper to run — directly relevant to KLA's H100 throughput scoring axis</a:t>
            </a:r>
            <a:endParaRPr lang="en-US" sz="1250" dirty="0"/>
          </a:p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SimpleGate + Simplified Channel Attention replace nonlinear activations entirely: strong quality/compute trade-off, no custom CUDA ops</a:t>
            </a:r>
            <a:endParaRPr lang="en-US" sz="1250" dirty="0"/>
          </a:p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bicubic-residual connection lets the network focus on the denoise+detail correction, not full reconstruction from scratch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309360" y="2880360"/>
            <a:ext cx="5120640" cy="3291840"/>
          </a:xfrm>
          <a:prstGeom prst="roundRect">
            <a:avLst>
              <a:gd name="adj" fmla="val 166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6583680" y="31089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size variants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0" y="3566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 (this run)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778240" y="35661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1.0M params · 27.81dB · ~5ms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83680" y="3977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093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 (benchmarked)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778240" y="39776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3.1M params · 28.14dB · ~8.8ms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583680" y="448056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benchmarked on the same held-out validation set. small scored +0.33 dB / +0.010 SSIM / −0.014 LPIPS over tiny, at ~1.8× the inference latency. tiny was chosen as the final submission for its stronger quality/throughput trade-off — a deliberate, measured decision, not a default.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Functions &amp; Training Setup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loss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3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 = 1.0 × Charbonnier(pred, GT)  +  0.2 × (1 − SSIM(pred, GT))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14884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Charbonnier: smooth-L1 reconstruction loss, standard in SR/denoising literature (Restormer, SwinIR, MPRNet) — robust to outliers, sharper than plain L1</a:t>
            </a:r>
            <a:endParaRPr lang="en-US" sz="1250" dirty="0"/>
          </a:p>
          <a:p>
            <a:pPr marL="228600" indent="-2286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SSIM term: directly optimizes toward one of the three reported metrics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5394960" cy="1865376"/>
        </p:xfrm>
        <a:graphic>
          <a:graphicData uri="http://schemas.openxmlformats.org/drawingml/2006/table">
            <a:tbl>
              <a:tblPr/>
              <a:tblGrid>
                <a:gridCol w="1920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Optimizer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AdamW, weight decay 1e-4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LR schedule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2e-4 → 0, cosine annealing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size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Epochs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clipping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max-norm 1.0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(fixed, logged)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5"/>
          <p:cNvSpPr/>
          <p:nvPr/>
        </p:nvSpPr>
        <p:spPr>
          <a:xfrm>
            <a:off x="6309360" y="1234440"/>
            <a:ext cx="5120640" cy="4754880"/>
          </a:xfrm>
          <a:prstGeom prst="roundRect">
            <a:avLst>
              <a:gd name="adj" fmla="val 115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83680" y="14630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tracking (automatic, every run)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583680" y="2103120"/>
            <a:ext cx="45720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✓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results/train_config_&lt;run_id&gt;.json — full hyperparameters, seed, PyTorch/CUDA/GPU info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✓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results/train_log_&lt;run_id&gt;.csv — per-epoch loss, LR, val PSNR/SSIM, wall time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✓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results/val_split_&lt;run_id&gt;.json — exact held-out filenames (reproducible, leak-free)</a:t>
            </a:r>
            <a:endParaRPr lang="en-US" sz="1250" dirty="0"/>
          </a:p>
          <a:p>
            <a:pPr marL="228600" indent="-228600">
              <a:lnSpc>
                <a:spcPts val="2200"/>
              </a:lnSpc>
              <a:spcAft>
                <a:spcPts val="1000"/>
              </a:spcAft>
              <a:buSzPct val="100000"/>
              <a:buChar char="✓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weights/best.pt — checkpoint with embedded config for exact reproducibility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Tracking &amp; Baseline Comparison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progression (100 epochs, full 3,200-image dataset)</a:t>
            </a:r>
            <a:endParaRPr lang="en-US" sz="14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600200"/>
          <a:ext cx="5577840" cy="24688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6492240" y="11887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comparison methodology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492240" y="1600200"/>
            <a:ext cx="51206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= bicubic upsampling only, zero denoising — exactly what the model's own global residual connection starts from</a:t>
            </a:r>
            <a:endParaRPr lang="en-US" sz="1250" dirty="0"/>
          </a:p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on the SAME 320 held-out, leak-free validation images as the trained model</a:t>
            </a:r>
            <a:endParaRPr lang="en-US" sz="1250" dirty="0"/>
          </a:p>
          <a:p>
            <a:pPr marL="228600" indent="-2286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evaluated at FULL RESOLUTION (256×256+), not training crops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429768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decreased from 0.109 → 0.073 in the first ~35 epochs, then plateaued — val PSNR continued climbing slowly through epoch 100, suggesting the tiny (1M param) model is approaching its capacity ceiling. See Slide 12 for the small-model follow-up.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PSNR, SSIM &amp; LPIPS Results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Full-resolution evaluation on 320 held-out validation images (evaluate.py)</a:t>
            </a:r>
            <a:endParaRPr lang="en-US" sz="13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1691640"/>
          <a:ext cx="352044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914400" y="4572000"/>
            <a:ext cx="2788920" cy="502920"/>
          </a:xfrm>
          <a:prstGeom prst="roundRect">
            <a:avLst>
              <a:gd name="adj" fmla="val 90909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45720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+4.73 dB vs baseline</a:t>
            </a:r>
            <a:endParaRPr lang="en-US" sz="1250" dirty="0"/>
          </a:p>
        </p:txBody>
      </p:sp>
      <p:graphicFrame>
        <p:nvGraphicFramePr>
          <p:cNvPr id="8" name="Chart 1"/>
          <p:cNvGraphicFramePr/>
          <p:nvPr/>
        </p:nvGraphicFramePr>
        <p:xfrm>
          <a:off x="4160520" y="1691640"/>
          <a:ext cx="352044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Shape 5"/>
          <p:cNvSpPr/>
          <p:nvPr/>
        </p:nvSpPr>
        <p:spPr>
          <a:xfrm>
            <a:off x="4526280" y="4572000"/>
            <a:ext cx="2788920" cy="502920"/>
          </a:xfrm>
          <a:prstGeom prst="roundRect">
            <a:avLst>
              <a:gd name="adj" fmla="val 90909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526280" y="45720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+0.213 vs baseline</a:t>
            </a:r>
            <a:endParaRPr lang="en-US" sz="1250" dirty="0"/>
          </a:p>
        </p:txBody>
      </p:sp>
      <p:graphicFrame>
        <p:nvGraphicFramePr>
          <p:cNvPr id="11" name="Chart 2"/>
          <p:cNvGraphicFramePr/>
          <p:nvPr/>
        </p:nvGraphicFramePr>
        <p:xfrm>
          <a:off x="7772400" y="1691640"/>
          <a:ext cx="352044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2" name="Shape 7"/>
          <p:cNvSpPr/>
          <p:nvPr/>
        </p:nvSpPr>
        <p:spPr>
          <a:xfrm>
            <a:off x="8138160" y="4572000"/>
            <a:ext cx="2788920" cy="502920"/>
          </a:xfrm>
          <a:prstGeom prst="roundRect">
            <a:avLst>
              <a:gd name="adj" fmla="val 90909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8138160" y="4572000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−0.164 vs baseline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548640" y="53492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beats the bicubic-only baseline on every metric by a clear margin — confirming genuine denoising + detail-recovery work, not just the residual bicubic pass baked into the architecture.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Runtime, Batch Size &amp; Optimization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4173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4.46 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end-to-end</a:t>
            </a:r>
            <a:endParaRPr lang="en-US" sz="11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/ image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28016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37560" y="14173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~4.46 ms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337560" y="2011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</a:t>
            </a:r>
            <a:endParaRPr lang="en-US" sz="11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/ image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28016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126480" y="2011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images</a:t>
            </a:r>
            <a:endParaRPr lang="en-US" sz="11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15400" y="128016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15400" y="1417320"/>
            <a:ext cx="2606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1.46 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915400" y="2011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pipeline time</a:t>
            </a:r>
            <a:endParaRPr lang="en-US" sz="1100" dirty="0"/>
          </a:p>
          <a:p>
            <a:pPr marL="0" indent="0" algn="ctr">
              <a:lnSpc>
                <a:spcPts val="1400"/>
              </a:lnSpc>
              <a:buNone/>
            </a:pPr>
            <a:r>
              <a:rPr lang="en-US" sz="11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(320 images, batch=8)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2926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configuration</a:t>
            </a:r>
            <a:endParaRPr lang="en-US" sz="1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5486400" cy="208788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NVIDIA Tesla T4 (dev/test machine)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PyTorch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2.11.0+cu128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size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6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 method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B6B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wall-clock time.time(), disk read → preprocessing → H2D → model → D2H → save, matching KLA's exact runtime definition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6492240" y="2926080"/>
            <a:ext cx="5120640" cy="3108960"/>
          </a:xfrm>
          <a:prstGeom prst="roundRect">
            <a:avLst>
              <a:gd name="adj" fmla="val 1765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766560" y="3154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on H100 scoring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766560" y="356616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Development/testing was done on a Colab Tesla T4. KLA's shortlisting stage reruns the submitted pipeline on a common NVIDIA H100 for the official throughput score — expect meaningfully faster per-image latency there given the H100's substantially higher memory bandwidth and compute throughput versus a T4.</a:t>
            </a: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endParaRPr lang="en-US" sz="125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inference.py auto-detects CUDA and requires no code changes to run on any NVIDIA GPU.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Results, Failure Cases &amp; Limitations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Representative restorations — final tiny checkpoint, real test-set images</a:t>
            </a:r>
            <a:endParaRPr lang="en-US" sz="1300" dirty="0"/>
          </a:p>
        </p:txBody>
      </p:sp>
      <p:pic>
        <p:nvPicPr>
          <p:cNvPr id="5" name="Image 0" descr="final_example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481328"/>
            <a:ext cx="3520440" cy="1865233"/>
          </a:xfrm>
          <a:prstGeom prst="rect">
            <a:avLst/>
          </a:prstGeom>
        </p:spPr>
      </p:pic>
      <p:pic>
        <p:nvPicPr>
          <p:cNvPr id="6" name="Image 1" descr="final_example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1481328"/>
            <a:ext cx="3520440" cy="1865233"/>
          </a:xfrm>
          <a:prstGeom prst="rect">
            <a:avLst/>
          </a:prstGeom>
        </p:spPr>
      </p:pic>
      <p:pic>
        <p:nvPicPr>
          <p:cNvPr id="7" name="Image 2" descr="final_example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63840" y="1481328"/>
            <a:ext cx="3520440" cy="1865233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48640" y="3419713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Restored with the final 100-epoch tiny checkpoint (weights/best.pt) on unseen test images — heavy speckle/Gaussian noise removed, fine structural detail (edges, line work, texture) preserved rather than smoothed away.</a:t>
            </a:r>
            <a:endParaRPr lang="en-US" sz="1050" dirty="0"/>
          </a:p>
        </p:txBody>
      </p:sp>
      <p:sp>
        <p:nvSpPr>
          <p:cNvPr id="9" name="Text 4"/>
          <p:cNvSpPr/>
          <p:nvPr/>
        </p:nvSpPr>
        <p:spPr>
          <a:xfrm>
            <a:off x="548640" y="45720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distinct, well-understood failure modes identified:</a:t>
            </a:r>
            <a:endParaRPr lang="en-US" sz="1300" dirty="0"/>
          </a:p>
        </p:txBody>
      </p:sp>
      <p:sp>
        <p:nvSpPr>
          <p:cNvPr id="10" name="Shape 5"/>
          <p:cNvSpPr/>
          <p:nvPr/>
        </p:nvSpPr>
        <p:spPr>
          <a:xfrm>
            <a:off x="548640" y="4892040"/>
            <a:ext cx="3611880" cy="1417320"/>
          </a:xfrm>
          <a:prstGeom prst="roundRect">
            <a:avLst>
              <a:gd name="adj" fmla="val 3871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685800" y="501091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Fine detail loss</a:t>
            </a:r>
            <a:endParaRPr lang="en-US" sz="1250" dirty="0"/>
          </a:p>
        </p:txBody>
      </p:sp>
      <p:sp>
        <p:nvSpPr>
          <p:cNvPr id="12" name="Text 7"/>
          <p:cNvSpPr/>
          <p:nvPr/>
        </p:nvSpPr>
        <p:spPr>
          <a:xfrm>
            <a:off x="685800" y="53035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Ornamental micro-texture destroyed by 2× downsampling before the model sees it. Model correctly smooths rather than hallucinates.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4297680" y="4892040"/>
            <a:ext cx="3611880" cy="1417320"/>
          </a:xfrm>
          <a:prstGeom prst="roundRect">
            <a:avLst>
              <a:gd name="adj" fmla="val 3871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4434840" y="501091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Aliasing (Moiré)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4434840" y="53035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patterns (e.g. corrugated roofing) fold into a false pattern during downsampling. Model confidently reconstructs the aliased structure.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046720" y="4892040"/>
            <a:ext cx="3611880" cy="1417320"/>
          </a:xfrm>
          <a:prstGeom prst="roundRect">
            <a:avLst>
              <a:gd name="adj" fmla="val 3871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8183880" y="5010912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Stochastic-texture ceiling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8183880" y="5303520"/>
            <a:ext cx="3337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 is itself high-entropy random texture — an information-theoretic limit no model can cross; even a perfect oracle can't win here.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Case Detail: Aliasing (Moiré Pattern)</a:t>
            </a:r>
            <a:endParaRPr lang="en-US" sz="2800" dirty="0"/>
          </a:p>
        </p:txBody>
      </p:sp>
      <p:pic>
        <p:nvPicPr>
          <p:cNvPr id="4" name="Image 0" descr="failure_0019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11064240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29768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corrugated-roof stripe pattern is periodic at a frequency close to the Nyquist limit after 2× downsampling. The noisy input already shows a false checkerboard pattern (classic Moiré aliasing) rather than random noise. The model faithfully cleans up noise but reconstructs the ALIASED pattern with confidence — arguably a more subtle failure than case 1, since the output looks clean and plausible while being structurally wrong. This is a property of the degradation pipeline itself, not a training defect.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11b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Conclusion, External Resources &amp; Next Steps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53949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NAFNetSR (1M params) restores NoisyLR → GT quality in a single forward pass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27.81 dB PSNR / 0.768 SSIM / 0.271 LPIPS on held-out full-resolution validation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+4.7 dB PSNR over bicubic baseline — clear, non-trivial improvement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~7.5 ms/image steady-state inference on a T4 GPU (expect faster on H100)</a:t>
            </a:r>
            <a:endParaRPr lang="en-US" sz="1300" dirty="0"/>
          </a:p>
          <a:p>
            <a:pPr marL="228600" indent="-228600">
              <a:lnSpc>
                <a:spcPts val="2200"/>
              </a:lnSpc>
              <a:spcAft>
                <a:spcPts val="800"/>
              </a:spcAft>
              <a:buSzPct val="100000"/>
              <a:buChar char="✓"/>
            </a:pPr>
            <a:r>
              <a:rPr lang="en-US" sz="130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reproducible: validate → train → evaluate → infer, config/seed/log tracked automatically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resources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470916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pretrained weights or public datasets used. Architecture inspired by NAFNet (Chen et al., ECCV 2022, “Simple Baselines for Image Restoration”) — reimplemented from scratch for this submission.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09360" y="1234440"/>
            <a:ext cx="5120640" cy="4343400"/>
          </a:xfrm>
          <a:prstGeom prst="roundRect">
            <a:avLst>
              <a:gd name="adj" fmla="val 1263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583680" y="14630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0" y="187452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lnSpc>
                <a:spcPts val="2100"/>
              </a:lnSpc>
              <a:spcAft>
                <a:spcPts val="8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further architecture scaling beyond small (3.1M params, already benchmarked — see Slide 6) if additional quality is needed</a:t>
            </a:r>
            <a:endParaRPr lang="en-US" sz="1250" dirty="0"/>
          </a:p>
          <a:p>
            <a:pPr marL="228600" indent="-228600">
              <a:lnSpc>
                <a:spcPts val="2100"/>
              </a:lnSpc>
              <a:spcAft>
                <a:spcPts val="8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training beyond 100 epochs given validation PSNR was still climbing</a:t>
            </a:r>
            <a:endParaRPr lang="en-US" sz="1250" dirty="0"/>
          </a:p>
          <a:p>
            <a:pPr marL="228600" indent="-228600">
              <a:lnSpc>
                <a:spcPts val="2100"/>
              </a:lnSpc>
              <a:spcAft>
                <a:spcPts val="8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synthetic degradation augmentation for additional out-of-distribution robustness</a:t>
            </a:r>
            <a:endParaRPr lang="en-US" sz="1250" dirty="0"/>
          </a:p>
          <a:p>
            <a:pPr marL="228600" indent="-228600">
              <a:lnSpc>
                <a:spcPts val="2100"/>
              </a:lnSpc>
              <a:spcAft>
                <a:spcPts val="800"/>
              </a:spcAft>
              <a:buSzPct val="100000"/>
              <a:buChar char="→"/>
            </a:pPr>
            <a:r>
              <a:rPr lang="en-US" sz="1250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targeted handling for periodic/high-frequency textures (Slide 11, case 2)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583680" y="4206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6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45262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1E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https://github.com/Nag123-tel/kla-restoration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1854</Words>
  <Application>Microsoft Office PowerPoint</Application>
  <PresentationFormat>Widescreen</PresentationFormat>
  <Paragraphs>225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nagavyshnavi boyapalli</cp:lastModifiedBy>
  <cp:revision>3</cp:revision>
  <dcterms:created xsi:type="dcterms:W3CDTF">2026-08-15T16:54:41Z</dcterms:created>
  <dcterms:modified xsi:type="dcterms:W3CDTF">2026-08-18T15:07:05Z</dcterms:modified>
</cp:coreProperties>
</file>